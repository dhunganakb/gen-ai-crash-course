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53"/>
    <p:restoredTop sz="94725"/>
  </p:normalViewPr>
  <p:slideViewPr>
    <p:cSldViewPr snapToGrid="0">
      <p:cViewPr>
        <p:scale>
          <a:sx n="126" d="100"/>
          <a:sy n="126" d="100"/>
        </p:scale>
        <p:origin x="226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8D021-581F-F44E-84BE-CC8685AB637F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DF2A3-DE10-B243-B8D4-8BEF7D3F0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4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7DF2A3-DE10-B243-B8D4-8BEF7D3F02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94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CA34F-FC76-4F10-0162-BFE970E0A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0B708-79DD-24FA-42D3-3ACE8852D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5E86-5F86-224B-DE6B-D5984398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C7B13-C137-3237-647B-E79450B8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5581-04B5-A8FA-84DA-243A12AF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90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317C-1C45-0030-68E4-6452F46A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3652C-371B-48AD-3910-C81A5F70B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E5BC6-3422-D571-B28E-0737CC34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67C31-608C-E369-88D7-DAC272B7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0DAC2-27C4-D9C5-71E2-3EA81BD4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7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F326-78DA-E8B4-72CA-F3D8F5EE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4880F-73D9-D6DD-E462-EBEB9315B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EA85-C142-E798-A73E-67333834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97243-35ED-D6A2-0B05-F057407B3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5C0E2-DA4A-E007-5266-EE956D48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A215-6CA0-60FB-5F56-5568108A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A937-6187-CEC6-AFE6-4F5B285A4C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82DBE-E41E-74C5-62E3-C0742A2A1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9EC71-99E1-16A1-11B1-ED6F99F48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AB32E-C87C-370D-6C62-3DA0AB382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EF2F2-62D9-2A41-DD73-C7577B78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272E-0C21-2E75-82B5-3BB874B6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D3E31-A0EB-A566-7A2C-0C832BD80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20E8C-D36C-3F63-B770-5D75BE6D3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AB24C-9E27-3767-72E6-58A2D61BD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A0AC7-E031-C77C-3D7C-A6D87A7D8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0712A-2F04-1CE0-D4A7-D4E116E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75126-B31B-BC12-E76D-C9FF6E37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EBE01-0B48-F660-4348-32ECF24B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6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A32C-0580-7556-C673-A16A895AB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2D01B-DD8E-28FB-B09A-E31B55C8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A41E3-2605-0A1C-D7ED-79DA2650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158E4-6FD9-5F01-0536-57373C0F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97839-E1E6-6C49-8BC2-BA379ECD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B7F71-6264-9C57-4006-8F917A02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0BA83-8BB6-4E7C-0548-D2EE2ADD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0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9AD6-015C-B9B6-AE27-7FBBCDC64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6BAA-4518-0850-3850-9F9BA5C88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AF3EA-73DA-CBE9-F3A4-409F587E2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8FA63-AAD6-2EE2-0255-AB64D9EC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F7E80-A6AF-937C-C5E4-78E027AD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93180-588C-FA57-2A75-AF440239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87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42ED-837C-070C-B6B4-CBB64F296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76E04B-86C3-7803-C927-0B3AB68AE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DCD52-5C29-692A-7F82-2E094C18F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93C3B-8EDC-20FD-8742-0FE7EAB5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B9476-C850-009F-A27D-619A0C31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BD824-6718-95EA-F18F-862D72DB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5A38-5A47-05AC-0BB2-E22D90A3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3FD27-7A2D-DD5B-4CE7-E0DE99FBD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00491-CC90-0CB8-D58B-2A702CC7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6076-2579-72A8-819A-445B1C10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C5168-0241-7B23-55FE-CFAFDFC6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F8B1A-DC13-BB2A-D149-DC770DE46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58225-BD11-E1EC-A4E2-9D0A85E97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DC0EE-19D7-CD7A-398A-7DC6FE7B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28E0C-75BB-AE07-D9BD-2A5E2FDC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8EE4-F5DC-46FA-58C1-5B08C604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0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C401D-2EA0-9596-829B-D91D10F8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56FAB-244B-518C-0444-1780603A7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0A237-15F0-6F32-ABD1-51DDEEC05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790B2-0E88-5E4A-850F-BD50741B47D0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56442-763A-4714-6DAA-9BB934BE8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5DA0-C7CB-FC7F-2D9A-749031196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F42AA9-1051-E146-900D-9642B9285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2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ightcast.io/resources/blog/the-generative-ai-job-market-2025-data-insights?utm_source=chatgpt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23D2E5-37BE-6C7D-D760-60FF7B2BDC07}"/>
              </a:ext>
            </a:extLst>
          </p:cNvPr>
          <p:cNvSpPr txBox="1"/>
          <p:nvPr/>
        </p:nvSpPr>
        <p:spPr>
          <a:xfrm>
            <a:off x="284208" y="166358"/>
            <a:ext cx="4304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 AI for Developers: Beginner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B7950-E525-A246-F136-53CC099F73DD}"/>
              </a:ext>
            </a:extLst>
          </p:cNvPr>
          <p:cNvSpPr txBox="1"/>
          <p:nvPr/>
        </p:nvSpPr>
        <p:spPr>
          <a:xfrm>
            <a:off x="210070" y="708686"/>
            <a:ext cx="10651522" cy="572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Different Roles Related to Gen AI: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Generative AI Research Scientist or </a:t>
            </a:r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LLM Research Scientist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/Engineer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Fine-tuning / Adaptation Engineer (SFT, LoRA, PEFT)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Generative AI Engineer or LLM Application Engineer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AI Agent Engineer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 Agentic AI Engineer and Agent Architect /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Agent Orchestration Engineer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RAG Engineer (Retrieval-Augmented Generation)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Copilot / Assistant Engineer (enterprise copilots, internal assistants)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LLMOps Engineer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GenAI Platform Architect and GenAI Solution Architect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Guardrails Engineer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/ Safety Mechanisms Engineer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AI Incident Response / GenAI Trust &amp; Safety Ops 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Responsible AI Specialist (GenAI) or AI Governance Architect / </a:t>
            </a:r>
            <a:r>
              <a:rPr lang="en-US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GenAI Governance Lead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Model Risk Manager (GenAI)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Generative AI Product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DE2F5-766A-4601-CBB4-8BD3DF5E1250}"/>
              </a:ext>
            </a:extLst>
          </p:cNvPr>
          <p:cNvSpPr txBox="1"/>
          <p:nvPr/>
        </p:nvSpPr>
        <p:spPr>
          <a:xfrm>
            <a:off x="3106101" y="6403522"/>
            <a:ext cx="69523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hlinkClick r:id="rId2"/>
              </a:rPr>
              <a:t>https://lightcast.io/resources/blog/the-generative-ai-job-market-2025-data-insights?utm_source=chatgpt.com</a:t>
            </a:r>
            <a:endParaRPr lang="en-US" sz="1100" i="1" dirty="0"/>
          </a:p>
          <a:p>
            <a:r>
              <a:rPr lang="en-US" sz="1100" i="1" dirty="0"/>
              <a:t>https://www.ibm.com/think/topics/llmops?utm_source=chatgpt.com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3259976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D05A6E-F22E-5556-7E6F-9211EB4B9CFE}"/>
              </a:ext>
            </a:extLst>
          </p:cNvPr>
          <p:cNvSpPr txBox="1"/>
          <p:nvPr/>
        </p:nvSpPr>
        <p:spPr>
          <a:xfrm>
            <a:off x="111213" y="215786"/>
            <a:ext cx="4304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 AI for Developers: Beginner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B57CF-C5D8-EB86-1F6B-924AF7003856}"/>
              </a:ext>
            </a:extLst>
          </p:cNvPr>
          <p:cNvSpPr txBox="1"/>
          <p:nvPr/>
        </p:nvSpPr>
        <p:spPr>
          <a:xfrm>
            <a:off x="3559344" y="5745893"/>
            <a:ext cx="5073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https://blog.bytebytego.com/p/where-to-get-started-with-</a:t>
            </a:r>
            <a:r>
              <a:rPr lang="en-US" sz="1400" i="1" dirty="0" err="1"/>
              <a:t>genai</a:t>
            </a:r>
            <a:endParaRPr lang="en-US" sz="1400" i="1" dirty="0"/>
          </a:p>
        </p:txBody>
      </p:sp>
      <p:pic>
        <p:nvPicPr>
          <p:cNvPr id="7" name="Picture 6" descr="A diagram of a machine learning process&#10;&#10;AI-generated content may be incorrect.">
            <a:extLst>
              <a:ext uri="{FF2B5EF4-FFF2-40B4-BE49-F238E27FC236}">
                <a16:creationId xmlns:a16="http://schemas.microsoft.com/office/drawing/2014/main" id="{064387B0-0C1F-ED0C-976D-00681CBAE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" t="6003" r="3376" b="2626"/>
          <a:stretch>
            <a:fillRect/>
          </a:stretch>
        </p:blipFill>
        <p:spPr>
          <a:xfrm>
            <a:off x="69260" y="1210963"/>
            <a:ext cx="5318284" cy="4114800"/>
          </a:xfrm>
          <a:prstGeom prst="rect">
            <a:avLst/>
          </a:prstGeom>
        </p:spPr>
      </p:pic>
      <p:pic>
        <p:nvPicPr>
          <p:cNvPr id="11" name="Picture 10" descr="A diagram with text and words&#10;&#10;AI-generated content may be incorrect.">
            <a:extLst>
              <a:ext uri="{FF2B5EF4-FFF2-40B4-BE49-F238E27FC236}">
                <a16:creationId xmlns:a16="http://schemas.microsoft.com/office/drawing/2014/main" id="{4F174783-E762-C013-725C-97DB4BCF9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041" y="1569307"/>
            <a:ext cx="650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8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96"/>
    </mc:Choice>
    <mc:Fallback xmlns="">
      <p:transition spd="slow" advTm="398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AE9FAC6-5B3F-5E5D-C6D5-6A5E3FA79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392" y="968498"/>
            <a:ext cx="6378895" cy="55461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Models: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Open-source and Closed-source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Accessing LLMs: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keys, SDKs, first calls, unified runner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Open-Source LLMs: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Hugging Face models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Concepts: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Context window, tokenization, chunking, and other parameters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Prompt Engineering: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Reliable prompts, constraints, examples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Structured Outputs &amp; Tools: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Safe routing and tool usage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Embeddings &amp; Semantic Search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Coding with different IDEs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End-to-end document Q&amp;A with citations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Agents &amp; Workflows: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Multi-step, tool-based applications – Different Agentic Frameworks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 &amp; Testing: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Golden datasets, regression checks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Observability &amp; Tracing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CI/CD &amp; Deployment: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 Actions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MCP Server: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Introduction and use cases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Delivery: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FastAPI / Streamlit apps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29B56-0993-D352-200D-C73D8C55F7C3}"/>
              </a:ext>
            </a:extLst>
          </p:cNvPr>
          <p:cNvSpPr txBox="1"/>
          <p:nvPr/>
        </p:nvSpPr>
        <p:spPr>
          <a:xfrm>
            <a:off x="219497" y="269555"/>
            <a:ext cx="361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What You’ll Learn in This Course: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5100F8-7493-7938-5E6F-4937DAF07E54}"/>
              </a:ext>
            </a:extLst>
          </p:cNvPr>
          <p:cNvSpPr txBox="1"/>
          <p:nvPr/>
        </p:nvSpPr>
        <p:spPr>
          <a:xfrm>
            <a:off x="347696" y="968498"/>
            <a:ext cx="4149876" cy="55707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What This Course Covers</a:t>
            </a:r>
          </a:p>
          <a:p>
            <a:endParaRPr lang="en-US" b="1" dirty="0"/>
          </a:p>
          <a:p>
            <a:r>
              <a:rPr lang="en-US" sz="1600" dirty="0"/>
              <a:t>This course is designed for </a:t>
            </a:r>
            <a:r>
              <a:rPr lang="en-US" sz="1600" b="1" dirty="0"/>
              <a:t>beginners</a:t>
            </a:r>
            <a:r>
              <a:rPr lang="en-US" sz="1600" dirty="0"/>
              <a:t> who want to get started with Generative AI application development.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This course focuses on getting you started with Generative AI development through hands-on practice and practical understanding..</a:t>
            </a:r>
          </a:p>
          <a:p>
            <a:endParaRPr lang="en-US" sz="1600" dirty="0"/>
          </a:p>
          <a:p>
            <a:r>
              <a:rPr lang="en-US" sz="1600" dirty="0"/>
              <a:t>Please note that this course </a:t>
            </a:r>
            <a:r>
              <a:rPr lang="en-US" sz="1600" b="1" dirty="0"/>
              <a:t>does not cover advanced-level topics or deep theoretical details</a:t>
            </a:r>
            <a:r>
              <a:rPr lang="en-US" sz="1600" dirty="0"/>
              <a:t>. </a:t>
            </a:r>
            <a:endParaRPr lang="en-US" sz="1600" b="1" dirty="0">
              <a:solidFill>
                <a:srgbClr val="1F2328"/>
              </a:solidFill>
              <a:latin typeface="-apple-system"/>
            </a:endParaRPr>
          </a:p>
          <a:p>
            <a:endParaRPr lang="en-US" sz="1600" b="1" dirty="0"/>
          </a:p>
          <a:p>
            <a:r>
              <a:rPr lang="en-US" sz="1600" b="1" dirty="0"/>
              <a:t>Requirements</a:t>
            </a:r>
          </a:p>
          <a:p>
            <a:endParaRPr lang="en-US" sz="1600" b="1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/>
              <a:t>Basic knowledge of </a:t>
            </a:r>
            <a:r>
              <a:rPr lang="en-US" sz="1600" b="1" dirty="0"/>
              <a:t>Python programming</a:t>
            </a:r>
            <a:endParaRPr lang="en-US" sz="1600" dirty="0"/>
          </a:p>
          <a:p>
            <a:endParaRPr lang="en-US" sz="1600" dirty="0"/>
          </a:p>
          <a:p>
            <a:pPr marL="285750" indent="-285750">
              <a:buFont typeface="Wingdings" pitchFamily="2" charset="2"/>
              <a:buChar char="v"/>
            </a:pPr>
            <a:r>
              <a:rPr lang="en-US" sz="1600" dirty="0"/>
              <a:t>Familiarity with Python syntax, variables, and functions is sufficient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972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161"/>
    </mc:Choice>
    <mc:Fallback xmlns="">
      <p:transition spd="slow" advTm="511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DEE3C85-B67E-0A00-5A8C-3C016021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74" y="921151"/>
            <a:ext cx="7772400" cy="518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35189-6E00-1D8D-48F5-61DFFE4F383D}"/>
              </a:ext>
            </a:extLst>
          </p:cNvPr>
          <p:cNvSpPr txBox="1"/>
          <p:nvPr/>
        </p:nvSpPr>
        <p:spPr>
          <a:xfrm>
            <a:off x="219497" y="269555"/>
            <a:ext cx="4156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Implementing a Full Agentic Workflow</a:t>
            </a:r>
          </a:p>
        </p:txBody>
      </p:sp>
    </p:spTree>
    <p:extLst>
      <p:ext uri="{BB962C8B-B14F-4D97-AF65-F5344CB8AC3E}">
        <p14:creationId xmlns:p14="http://schemas.microsoft.com/office/powerpoint/2010/main" val="323117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3448</TotalTime>
  <Words>401</Words>
  <Application>Microsoft Macintosh PowerPoint</Application>
  <PresentationFormat>Widescreen</PresentationFormat>
  <Paragraphs>49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Dhungana</dc:creator>
  <cp:lastModifiedBy>Kamal Dhungana</cp:lastModifiedBy>
  <cp:revision>10</cp:revision>
  <dcterms:created xsi:type="dcterms:W3CDTF">2026-01-01T04:40:37Z</dcterms:created>
  <dcterms:modified xsi:type="dcterms:W3CDTF">2026-01-03T14:11:36Z</dcterms:modified>
</cp:coreProperties>
</file>